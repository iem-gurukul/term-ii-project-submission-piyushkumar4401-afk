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" name="Shape 9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Rectangle 6"/>
          <p:cNvSpPr/>
          <p:nvPr/>
        </p:nvSpPr>
        <p:spPr>
          <a:xfrm>
            <a:off x="10045520" y="154546"/>
            <a:ext cx="1912018" cy="60511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4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4000">
              <a:srgbClr val="41140B"/>
            </a:gs>
            <a:gs pos="100000">
              <a:srgbClr val="79170F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3"/>
          <p:cNvSpPr txBox="1"/>
          <p:nvPr>
            <p:ph type="title"/>
          </p:nvPr>
        </p:nvSpPr>
        <p:spPr>
          <a:xfrm>
            <a:off x="1057140" y="2734836"/>
            <a:ext cx="10515601" cy="1325564"/>
          </a:xfrm>
          <a:prstGeom prst="rect">
            <a:avLst/>
          </a:prstGeom>
        </p:spPr>
        <p:txBody>
          <a:bodyPr/>
          <a:lstStyle/>
          <a:p>
            <a:pPr algn="ctr" defTabSz="822959">
              <a:lnSpc>
                <a:spcPct val="150000"/>
              </a:lnSpc>
              <a:defRPr b="1" sz="32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LIBRARY MANAGEMENT SYSTEM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itle 3"/>
          <p:cNvSpPr txBox="1"/>
          <p:nvPr>
            <p:ph type="title"/>
          </p:nvPr>
        </p:nvSpPr>
        <p:spPr>
          <a:xfrm>
            <a:off x="816016" y="0"/>
            <a:ext cx="10515601" cy="1325563"/>
          </a:xfrm>
          <a:prstGeom prst="rect">
            <a:avLst/>
          </a:prstGeom>
        </p:spPr>
        <p:txBody>
          <a:bodyPr/>
          <a:lstStyle>
            <a:lvl1pPr indent="12700">
              <a:lnSpc>
                <a:spcPct val="100000"/>
              </a:lnSpc>
              <a:spcBef>
                <a:spcPts val="100"/>
              </a:spcBef>
              <a:defRPr b="1" spc="-100" sz="2000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AIM OF THE PROJECT</a:t>
            </a:r>
          </a:p>
        </p:txBody>
      </p:sp>
      <p:sp>
        <p:nvSpPr>
          <p:cNvPr id="99" name="Content Placeholder 4"/>
          <p:cNvSpPr txBox="1"/>
          <p:nvPr>
            <p:ph type="body" idx="1"/>
          </p:nvPr>
        </p:nvSpPr>
        <p:spPr>
          <a:xfrm>
            <a:off x="816016" y="886264"/>
            <a:ext cx="11085856" cy="5759236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A college library management is a project that </a:t>
            </a:r>
            <a:r>
              <a:rPr b="1">
                <a:solidFill>
                  <a:srgbClr val="C00000"/>
                </a:solidFill>
              </a:rPr>
              <a:t>manages and stores books information </a:t>
            </a:r>
            <a:r>
              <a:t>electronically according to students needs. The system helps </a:t>
            </a:r>
            <a:r>
              <a:rPr b="1">
                <a:solidFill>
                  <a:srgbClr val="C00000"/>
                </a:solidFill>
              </a:rPr>
              <a:t>both students and library manager to keep a constant track of all the books </a:t>
            </a:r>
            <a:r>
              <a:t>available in the library.</a:t>
            </a: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 It allows both the admin and the student to </a:t>
            </a:r>
            <a:r>
              <a:rPr b="1">
                <a:solidFill>
                  <a:srgbClr val="C00000"/>
                </a:solidFill>
              </a:rPr>
              <a:t>search for the desired book</a:t>
            </a:r>
            <a:r>
              <a:t>. It becomes necessary for colleges to keep a continuous check on </a:t>
            </a:r>
            <a:r>
              <a:rPr b="1">
                <a:solidFill>
                  <a:srgbClr val="C00000"/>
                </a:solidFill>
              </a:rPr>
              <a:t>the books issued and returned and even calculate fine</a:t>
            </a:r>
            <a:r>
              <a:t>. </a:t>
            </a: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This task if carried out manually will be </a:t>
            </a:r>
            <a:r>
              <a:rPr b="1">
                <a:solidFill>
                  <a:srgbClr val="C00000"/>
                </a:solidFill>
              </a:rPr>
              <a:t>tedious and includes chances of mistakes</a:t>
            </a:r>
            <a:r>
              <a:t>. </a:t>
            </a:r>
          </a:p>
          <a:p>
            <a:pPr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These errors are avoided by allowing the system to </a:t>
            </a:r>
            <a:r>
              <a:rPr b="1">
                <a:solidFill>
                  <a:srgbClr val="C00000"/>
                </a:solidFill>
              </a:rPr>
              <a:t>keep track of information such as issue date, last date to return the book</a:t>
            </a:r>
            <a:r>
              <a:t> and even fine information and thus there is no need to keep manual track of this information which thereby </a:t>
            </a:r>
            <a:r>
              <a:rPr b="1">
                <a:solidFill>
                  <a:srgbClr val="C00000"/>
                </a:solidFill>
              </a:rPr>
              <a:t>avoids chances of mistakes.</a:t>
            </a:r>
            <a:endParaRPr b="1">
              <a:solidFill>
                <a:srgbClr val="C00000"/>
              </a:solidFill>
            </a:endParaRP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Thus this system reduces manual work to a great extent allows smooth flow of </a:t>
            </a:r>
            <a:r>
              <a:rPr b="1">
                <a:solidFill>
                  <a:srgbClr val="C00000"/>
                </a:solidFill>
              </a:rPr>
              <a:t>library activities by removing chances of errors in the details.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itle 4"/>
          <p:cNvSpPr txBox="1"/>
          <p:nvPr>
            <p:ph type="title"/>
          </p:nvPr>
        </p:nvSpPr>
        <p:spPr>
          <a:xfrm>
            <a:off x="709411" y="309809"/>
            <a:ext cx="10515601" cy="702062"/>
          </a:xfrm>
          <a:prstGeom prst="rect">
            <a:avLst/>
          </a:prstGeom>
        </p:spPr>
        <p:txBody>
          <a:bodyPr/>
          <a:lstStyle>
            <a:lvl1pPr>
              <a:defRPr b="1" spc="-100" sz="2000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OBJECTIVE OF THIS PROJECT</a:t>
            </a:r>
          </a:p>
        </p:txBody>
      </p:sp>
      <p:sp>
        <p:nvSpPr>
          <p:cNvPr id="103" name="Content Placeholder 1"/>
          <p:cNvSpPr txBox="1"/>
          <p:nvPr>
            <p:ph type="body" idx="1"/>
          </p:nvPr>
        </p:nvSpPr>
        <p:spPr>
          <a:xfrm>
            <a:off x="709409" y="1011870"/>
            <a:ext cx="11023245" cy="5402577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This project system was highly recommended due to the </a:t>
            </a:r>
            <a:r>
              <a:rPr b="1">
                <a:solidFill>
                  <a:srgbClr val="C00000"/>
                </a:solidFill>
              </a:rPr>
              <a:t>rapid increase of computer related tools </a:t>
            </a:r>
            <a:r>
              <a:t>in the industry. </a:t>
            </a: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With this proposed system features and functions of the </a:t>
            </a:r>
            <a:r>
              <a:rPr b="1">
                <a:solidFill>
                  <a:srgbClr val="C00000"/>
                </a:solidFill>
              </a:rPr>
              <a:t>online book shop and the e-librar</a:t>
            </a:r>
            <a:r>
              <a:t>y that will be able to accommodate more reliably consistent and faster in providing a better service to the users.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>
            <p:ph type="title"/>
          </p:nvPr>
        </p:nvSpPr>
        <p:spPr>
          <a:xfrm>
            <a:off x="744582" y="277620"/>
            <a:ext cx="10515601" cy="816562"/>
          </a:xfrm>
          <a:prstGeom prst="rect">
            <a:avLst/>
          </a:prstGeom>
        </p:spPr>
        <p:txBody>
          <a:bodyPr/>
          <a:lstStyle>
            <a:lvl1pPr>
              <a:defRPr b="1" spc="-100" sz="2000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SOFTWARE AND HARDWARE REQUIREMENTS </a:t>
            </a:r>
          </a:p>
        </p:txBody>
      </p:sp>
      <p:sp>
        <p:nvSpPr>
          <p:cNvPr id="106" name="Content Placeholder 3"/>
          <p:cNvSpPr txBox="1"/>
          <p:nvPr>
            <p:ph type="body" idx="1"/>
          </p:nvPr>
        </p:nvSpPr>
        <p:spPr>
          <a:xfrm>
            <a:off x="744582" y="831908"/>
            <a:ext cx="11328366" cy="6026093"/>
          </a:xfrm>
          <a:prstGeom prst="rect">
            <a:avLst/>
          </a:prstGeom>
        </p:spPr>
        <p:txBody>
          <a:bodyPr/>
          <a:lstStyle/>
          <a:p>
            <a:pPr marL="0" indent="0" defTabSz="804672">
              <a:lnSpc>
                <a:spcPct val="120000"/>
              </a:lnSpc>
              <a:spcBef>
                <a:spcPts val="800"/>
              </a:spcBef>
              <a:buSzTx/>
              <a:buNone/>
              <a:defRPr b="1" spc="-88" sz="1232">
                <a:solidFill>
                  <a:srgbClr val="DA2727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HARDWARE REQUIREMENTS: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Processor		  :     intel 3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Motherboard                 	  :     intel 915gvsr chipset board   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Ram			  :     4 gb ddr2 ram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Hard disk drive	 	  :      160 gb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indent="0" defTabSz="804672">
              <a:lnSpc>
                <a:spcPct val="120000"/>
              </a:lnSpc>
              <a:spcBef>
                <a:spcPts val="800"/>
              </a:spcBef>
              <a:buSzTx/>
              <a:buNone/>
              <a:defRPr b="1" spc="-88" sz="1232">
                <a:solidFill>
                  <a:srgbClr val="DA2727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SOFTWARE REQUIREMENTS: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Front end	: html5, css3, bootstrap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Back end	: php, mysql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Control end	: angular java script</a:t>
            </a:r>
            <a:endParaRPr>
              <a:solidFill>
                <a:srgbClr val="595959"/>
              </a:solidFill>
            </a:endParaRPr>
          </a:p>
          <a:p>
            <a:pPr marL="0" indent="0" defTabSz="804672">
              <a:lnSpc>
                <a:spcPct val="120000"/>
              </a:lnSpc>
              <a:spcBef>
                <a:spcPts val="800"/>
              </a:spcBef>
              <a:buSzTx/>
              <a:buNone/>
              <a:defRPr b="1" spc="-88" sz="1232">
                <a:solidFill>
                  <a:srgbClr val="DA2727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PHP  TOOLS: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xampp-win32-5.5.19-0-VC11</a:t>
            </a:r>
            <a:r>
              <a:rPr>
                <a:solidFill>
                  <a:srgbClr val="595959"/>
                </a:solidFill>
              </a:rPr>
              <a:t>	</a:t>
            </a:r>
            <a:endParaRPr>
              <a:solidFill>
                <a:srgbClr val="595959"/>
              </a:solidFill>
            </a:endParaRPr>
          </a:p>
          <a:p>
            <a:pPr marL="0" indent="0" defTabSz="804672">
              <a:lnSpc>
                <a:spcPct val="120000"/>
              </a:lnSpc>
              <a:spcBef>
                <a:spcPts val="800"/>
              </a:spcBef>
              <a:buSzTx/>
              <a:buNone/>
              <a:defRPr b="1" spc="-88" sz="1232">
                <a:solidFill>
                  <a:srgbClr val="DA2727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ANDROID TOOLS: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/>
            </a:pPr>
            <a:r>
              <a:t>Android Emulator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xampp-win32-5.5.19-0-VC11	</a:t>
            </a:r>
          </a:p>
          <a:p>
            <a:pPr marL="201168" indent="-201168" defTabSz="804672">
              <a:lnSpc>
                <a:spcPct val="120000"/>
              </a:lnSpc>
              <a:spcBef>
                <a:spcPts val="800"/>
              </a:spcBef>
              <a:defRPr sz="1232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Android Studio</a:t>
            </a:r>
          </a:p>
          <a:p>
            <a:pPr marL="0" indent="0" defTabSz="804672">
              <a:spcBef>
                <a:spcPts val="800"/>
              </a:spcBef>
              <a:buSzTx/>
              <a:buNone/>
              <a:defRPr sz="1232">
                <a:solidFill>
                  <a:srgbClr val="595959"/>
                </a:solidFill>
                <a:latin typeface="RobotoRegular"/>
                <a:ea typeface="RobotoRegular"/>
                <a:cs typeface="RobotoRegular"/>
                <a:sym typeface="RobotoRegular"/>
              </a:defRPr>
            </a:pPr>
          </a:p>
          <a:p>
            <a:pPr marL="0" indent="0" defTabSz="804672">
              <a:spcBef>
                <a:spcPts val="800"/>
              </a:spcBef>
              <a:buSzTx/>
              <a:buNone/>
              <a:defRPr b="1" spc="-30" sz="1232">
                <a:solidFill>
                  <a:srgbClr val="DA2727"/>
                </a:solidFill>
                <a:latin typeface="Roboto"/>
                <a:ea typeface="Roboto"/>
                <a:cs typeface="Roboto"/>
                <a:sym typeface="Roboto"/>
              </a:defRPr>
            </a:pPr>
          </a:p>
          <a:p>
            <a:pPr marL="0" indent="0" defTabSz="804672">
              <a:spcBef>
                <a:spcPts val="800"/>
              </a:spcBef>
              <a:buSzTx/>
              <a:buNone/>
              <a:defRPr sz="1232">
                <a:solidFill>
                  <a:srgbClr val="595959"/>
                </a:solidFill>
                <a:latin typeface="RobotoRegular"/>
                <a:ea typeface="RobotoRegular"/>
                <a:cs typeface="RobotoRegular"/>
                <a:sym typeface="RobotoRegular"/>
              </a:defRPr>
            </a:pPr>
          </a:p>
          <a:p>
            <a:pPr marL="0" indent="0" defTabSz="804672">
              <a:spcBef>
                <a:spcPts val="800"/>
              </a:spcBef>
              <a:buSzTx/>
              <a:buNone/>
              <a:defRPr sz="1232"/>
            </a:pPr>
            <a:r>
              <a:t> </a:t>
            </a:r>
          </a:p>
        </p:txBody>
      </p:sp>
      <p:sp>
        <p:nvSpPr>
          <p:cNvPr id="107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13" name="object 138"/>
          <p:cNvGrpSpPr/>
          <p:nvPr/>
        </p:nvGrpSpPr>
        <p:grpSpPr>
          <a:xfrm>
            <a:off x="7328079" y="1509883"/>
            <a:ext cx="3484415" cy="3705057"/>
            <a:chOff x="0" y="0"/>
            <a:chExt cx="3484414" cy="3705055"/>
          </a:xfrm>
        </p:grpSpPr>
        <p:sp>
          <p:nvSpPr>
            <p:cNvPr id="108" name="object 139"/>
            <p:cNvSpPr/>
            <p:nvPr/>
          </p:nvSpPr>
          <p:spPr>
            <a:xfrm>
              <a:off x="1659129" y="296234"/>
              <a:ext cx="181417" cy="249456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9" name="object 140"/>
            <p:cNvSpPr/>
            <p:nvPr/>
          </p:nvSpPr>
          <p:spPr>
            <a:xfrm>
              <a:off x="1149352" y="185834"/>
              <a:ext cx="157533" cy="174647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0" name="object 141"/>
            <p:cNvSpPr/>
            <p:nvPr/>
          </p:nvSpPr>
          <p:spPr>
            <a:xfrm>
              <a:off x="2936909" y="532817"/>
              <a:ext cx="33760" cy="204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48" y="0"/>
                  </a:moveTo>
                  <a:lnTo>
                    <a:pt x="0" y="21498"/>
                  </a:lnTo>
                  <a:lnTo>
                    <a:pt x="17650" y="21600"/>
                  </a:lnTo>
                  <a:lnTo>
                    <a:pt x="21600" y="106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rgbClr val="AAC7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1" name="object 142"/>
            <p:cNvSpPr/>
            <p:nvPr/>
          </p:nvSpPr>
          <p:spPr>
            <a:xfrm>
              <a:off x="2007897" y="0"/>
              <a:ext cx="224129" cy="244018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2" name="object 143"/>
            <p:cNvSpPr/>
            <p:nvPr/>
          </p:nvSpPr>
          <p:spPr>
            <a:xfrm>
              <a:off x="0" y="188676"/>
              <a:ext cx="3484415" cy="3516380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Rectangle 4"/>
          <p:cNvSpPr txBox="1"/>
          <p:nvPr/>
        </p:nvSpPr>
        <p:spPr>
          <a:xfrm>
            <a:off x="872114" y="476173"/>
            <a:ext cx="220763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EXISTING SYSTEM </a:t>
            </a:r>
          </a:p>
        </p:txBody>
      </p:sp>
      <p:sp>
        <p:nvSpPr>
          <p:cNvPr id="117" name="Content Placeholder 6"/>
          <p:cNvSpPr txBox="1"/>
          <p:nvPr>
            <p:ph type="body" idx="1"/>
          </p:nvPr>
        </p:nvSpPr>
        <p:spPr>
          <a:xfrm>
            <a:off x="947382" y="1146697"/>
            <a:ext cx="10515601" cy="4351338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Time and access can be obstacles to </a:t>
            </a:r>
            <a:r>
              <a:rPr b="1">
                <a:solidFill>
                  <a:srgbClr val="C00000"/>
                </a:solidFill>
              </a:rPr>
              <a:t>library research</a:t>
            </a:r>
            <a:r>
              <a:t>. </a:t>
            </a: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Readers must get to </a:t>
            </a:r>
            <a:r>
              <a:rPr b="1">
                <a:solidFill>
                  <a:srgbClr val="C00000"/>
                </a:solidFill>
              </a:rPr>
              <a:t>the library during library hours, which may not be convenient</a:t>
            </a:r>
            <a:r>
              <a:t>. They also may need to stay in the </a:t>
            </a:r>
            <a:r>
              <a:rPr b="1">
                <a:solidFill>
                  <a:srgbClr val="C00000"/>
                </a:solidFill>
              </a:rPr>
              <a:t>library for a long time </a:t>
            </a:r>
            <a:r>
              <a:t>to ensure they have exhausted all resources.</a:t>
            </a: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 Some resources may not be available for checkout, which means the student </a:t>
            </a:r>
            <a:r>
              <a:rPr b="1">
                <a:solidFill>
                  <a:srgbClr val="C00000"/>
                </a:solidFill>
              </a:rPr>
              <a:t>must stay in the library to use them.</a:t>
            </a:r>
            <a:endParaRPr b="1">
              <a:solidFill>
                <a:srgbClr val="C00000"/>
              </a:solidFill>
            </a:endParaRP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 And those that do circulate may be checked out by others and unavailable to anyone else.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Rectangle 4"/>
          <p:cNvSpPr txBox="1"/>
          <p:nvPr/>
        </p:nvSpPr>
        <p:spPr>
          <a:xfrm>
            <a:off x="853438" y="476173"/>
            <a:ext cx="456740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DISADVANTAGES OF EXISTING SYSTEM </a:t>
            </a:r>
          </a:p>
        </p:txBody>
      </p:sp>
      <p:sp>
        <p:nvSpPr>
          <p:cNvPr id="121" name="Content Placeholder 7"/>
          <p:cNvSpPr txBox="1"/>
          <p:nvPr>
            <p:ph type="body" idx="1"/>
          </p:nvPr>
        </p:nvSpPr>
        <p:spPr>
          <a:xfrm>
            <a:off x="807719" y="1091528"/>
            <a:ext cx="10515601" cy="4351338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Lack of privacy​</a:t>
            </a:r>
          </a:p>
          <a:p>
            <a:pPr marL="342900" indent="-342900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Risk in the management of the data.​</a:t>
            </a:r>
          </a:p>
          <a:p>
            <a:pPr marL="342900" indent="-342900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Less Security​</a:t>
            </a:r>
          </a:p>
          <a:p>
            <a:pPr marL="342900" indent="-342900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Low co-ordination between ​</a:t>
            </a:r>
          </a:p>
          <a:p>
            <a:pPr marL="342900" indent="-342900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Less User-friendly​</a:t>
            </a:r>
          </a:p>
          <a:p>
            <a:pPr marL="342900" indent="-342900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Accuracy not guaranteed​</a:t>
            </a:r>
          </a:p>
          <a:p>
            <a:pPr marL="342900" indent="-342900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Not in reach of distant users.</a:t>
            </a:r>
          </a:p>
          <a:p>
            <a:pPr marL="342900" indent="-342900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There is no storage and automation if users have some enquiry.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Rectangle 2"/>
          <p:cNvSpPr txBox="1"/>
          <p:nvPr/>
        </p:nvSpPr>
        <p:spPr>
          <a:xfrm>
            <a:off x="728438" y="476173"/>
            <a:ext cx="243634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PROPOSED SYSTEM </a:t>
            </a:r>
          </a:p>
        </p:txBody>
      </p:sp>
      <p:sp>
        <p:nvSpPr>
          <p:cNvPr id="125" name="Content Placeholder 4"/>
          <p:cNvSpPr txBox="1"/>
          <p:nvPr>
            <p:ph type="body" idx="1"/>
          </p:nvPr>
        </p:nvSpPr>
        <p:spPr>
          <a:xfrm>
            <a:off x="682718" y="845506"/>
            <a:ext cx="10846525" cy="5708475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Proposed system is an </a:t>
            </a:r>
            <a:r>
              <a:rPr b="1">
                <a:solidFill>
                  <a:srgbClr val="C00000"/>
                </a:solidFill>
              </a:rPr>
              <a:t>automated Library Management System</a:t>
            </a:r>
            <a:r>
              <a:t>. Through our software user can </a:t>
            </a:r>
            <a:r>
              <a:rPr b="1">
                <a:solidFill>
                  <a:srgbClr val="C00000"/>
                </a:solidFill>
              </a:rPr>
              <a:t>add books, search books, renewal, update information, edit information, and return books in quick time</a:t>
            </a:r>
            <a:r>
              <a:t>. Our proposed system has the following advantages.</a:t>
            </a:r>
            <a:endParaRPr sz="2000"/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Developed a well-organized </a:t>
            </a:r>
            <a:r>
              <a:rPr b="1">
                <a:solidFill>
                  <a:srgbClr val="C00000"/>
                </a:solidFill>
              </a:rPr>
              <a:t>book issue and searching system</a:t>
            </a:r>
            <a:r>
              <a:t>. Produced a well-designed and functioning system in accordance to the needs and wants of the borrowers.</a:t>
            </a:r>
            <a:endParaRPr sz="2000"/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Minimized the task and the effort being performed by both the </a:t>
            </a:r>
            <a:r>
              <a:rPr b="1">
                <a:solidFill>
                  <a:srgbClr val="C00000"/>
                </a:solidFill>
              </a:rPr>
              <a:t>owners and borrowers.</a:t>
            </a:r>
            <a:endParaRPr b="1" sz="2000">
              <a:solidFill>
                <a:srgbClr val="C00000"/>
              </a:solidFill>
            </a:endParaRPr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Provided the school and the students a well-organize and well-presented reports.</a:t>
            </a:r>
            <a:endParaRPr sz="2000"/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. User friendly interface</a:t>
            </a:r>
            <a:endParaRPr sz="2000"/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. Fast access to database</a:t>
            </a:r>
            <a:endParaRPr sz="2000"/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. Less error</a:t>
            </a:r>
            <a:endParaRPr sz="2000"/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. More Storage Capacity</a:t>
            </a:r>
            <a:endParaRPr sz="2000"/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. Search facility</a:t>
            </a:r>
            <a:endParaRPr sz="2000"/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. Look and Feel Environment</a:t>
            </a:r>
            <a:endParaRPr sz="2000"/>
          </a:p>
          <a:p>
            <a:pPr algn="just">
              <a:lnSpc>
                <a:spcPct val="120000"/>
              </a:lnSpc>
              <a:buFontTx/>
              <a:buChar char="➢"/>
              <a:defRPr sz="14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. Quick transaction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Rectangle 4"/>
          <p:cNvSpPr txBox="1"/>
          <p:nvPr/>
        </p:nvSpPr>
        <p:spPr>
          <a:xfrm>
            <a:off x="969841" y="476173"/>
            <a:ext cx="442075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ADVANTAGES OF PROPOSED SYSTEM </a:t>
            </a:r>
          </a:p>
        </p:txBody>
      </p:sp>
      <p:sp>
        <p:nvSpPr>
          <p:cNvPr id="129" name="Content Placeholder 2"/>
          <p:cNvSpPr txBox="1"/>
          <p:nvPr>
            <p:ph type="body" idx="1"/>
          </p:nvPr>
        </p:nvSpPr>
        <p:spPr>
          <a:xfrm>
            <a:off x="924121" y="1207439"/>
            <a:ext cx="10515601" cy="4351338"/>
          </a:xfrm>
          <a:prstGeom prst="rect">
            <a:avLst/>
          </a:prstGeom>
        </p:spPr>
        <p:txBody>
          <a:bodyPr/>
          <a:lstStyle/>
          <a:p>
            <a:pPr marL="342900" indent="-342900" algn="just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The system </a:t>
            </a:r>
            <a:r>
              <a:rPr b="1">
                <a:solidFill>
                  <a:srgbClr val="C00000"/>
                </a:solidFill>
              </a:rPr>
              <a:t>excludes the use of paper work </a:t>
            </a:r>
            <a:r>
              <a:t>by managing all the book information electronically.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Admin can keep updating the system by providing the </a:t>
            </a:r>
            <a:r>
              <a:rPr b="1">
                <a:solidFill>
                  <a:srgbClr val="C00000"/>
                </a:solidFill>
              </a:rPr>
              <a:t>new books arrival in system and their availability </a:t>
            </a:r>
            <a:r>
              <a:t>thus students need not to go to library for issuing purpose.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The system has books well organized and systematically arranged in different categories in the system so that user can easily search and find the book.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eriod" startAt="1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Thus, it saves </a:t>
            </a:r>
            <a:r>
              <a:rPr b="1">
                <a:solidFill>
                  <a:srgbClr val="C00000"/>
                </a:solidFill>
              </a:rPr>
              <a:t>human efforts and resources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Rectangle 2"/>
          <p:cNvSpPr txBox="1"/>
          <p:nvPr/>
        </p:nvSpPr>
        <p:spPr>
          <a:xfrm>
            <a:off x="1014652" y="476173"/>
            <a:ext cx="16324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MODULE LIST</a:t>
            </a:r>
          </a:p>
        </p:txBody>
      </p:sp>
      <p:sp>
        <p:nvSpPr>
          <p:cNvPr id="133" name="Content Placeholder 8"/>
          <p:cNvSpPr txBox="1"/>
          <p:nvPr>
            <p:ph type="body" idx="1"/>
          </p:nvPr>
        </p:nvSpPr>
        <p:spPr>
          <a:xfrm>
            <a:off x="1139309" y="886265"/>
            <a:ext cx="10689271" cy="517334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buSzTx/>
              <a:buNone/>
              <a:defRPr b="1"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PUBLIC/ USER</a:t>
            </a:r>
          </a:p>
          <a:p>
            <a:pPr marL="538162" indent="-363538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Login </a:t>
            </a:r>
          </a:p>
          <a:p>
            <a:pPr marL="538162" indent="-363538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Register </a:t>
            </a:r>
          </a:p>
          <a:p>
            <a:pPr marL="538162" indent="-363538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Search Book </a:t>
            </a:r>
          </a:p>
          <a:p>
            <a:pPr marL="538162" indent="-363538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My Borrow History Book </a:t>
            </a:r>
          </a:p>
          <a:p>
            <a:pPr lvl="1" marL="538162" indent="-363538">
              <a:lnSpc>
                <a:spcPct val="150000"/>
              </a:lnSpc>
              <a:spcBef>
                <a:spcPts val="500"/>
              </a:spcBef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Issue Date, Exp Date</a:t>
            </a:r>
          </a:p>
          <a:p>
            <a:pPr marL="538162" indent="-363538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Check Fine </a:t>
            </a:r>
          </a:p>
          <a:p>
            <a:pPr marL="538162" indent="-363538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Search material ( year, semester wise )</a:t>
            </a:r>
          </a:p>
          <a:p>
            <a:pPr marL="538162" indent="-363538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Download material</a:t>
            </a:r>
          </a:p>
          <a:p>
            <a:pPr marL="538162" indent="-363538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My profile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Rectangle 2"/>
          <p:cNvSpPr txBox="1"/>
          <p:nvPr/>
        </p:nvSpPr>
        <p:spPr>
          <a:xfrm>
            <a:off x="1014652" y="476173"/>
            <a:ext cx="16324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MODULE LIST</a:t>
            </a:r>
          </a:p>
        </p:txBody>
      </p:sp>
      <p:sp>
        <p:nvSpPr>
          <p:cNvPr id="137" name="Content Placeholder 8"/>
          <p:cNvSpPr txBox="1"/>
          <p:nvPr>
            <p:ph type="body" idx="1"/>
          </p:nvPr>
        </p:nvSpPr>
        <p:spPr>
          <a:xfrm>
            <a:off x="1139309" y="886265"/>
            <a:ext cx="10689271" cy="517334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buSzTx/>
              <a:buNone/>
              <a:defRPr b="1"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ADMIN</a:t>
            </a:r>
          </a:p>
          <a:p>
            <a:pPr marL="538162" indent="-269875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Login </a:t>
            </a:r>
          </a:p>
          <a:p>
            <a:pPr marL="538162" indent="-269875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Add Book </a:t>
            </a:r>
          </a:p>
          <a:p>
            <a:pPr marL="538162" indent="-269875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Update/Delete Book </a:t>
            </a:r>
          </a:p>
          <a:p>
            <a:pPr marL="538162" indent="-269875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Issue Book for student</a:t>
            </a:r>
          </a:p>
          <a:p>
            <a:pPr marL="538162" indent="-269875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Return Book Status </a:t>
            </a:r>
          </a:p>
          <a:p>
            <a:pPr marL="538162" indent="-269875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Make Fine </a:t>
            </a:r>
          </a:p>
          <a:p>
            <a:pPr marL="538162" indent="-269875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Update material ( year, semester wise )</a:t>
            </a:r>
          </a:p>
          <a:p>
            <a:pPr marL="538162" indent="-269875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View material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3"/>
          <p:cNvSpPr txBox="1"/>
          <p:nvPr/>
        </p:nvSpPr>
        <p:spPr>
          <a:xfrm>
            <a:off x="750889" y="475376"/>
            <a:ext cx="248690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USECASE DIAGRAMS</a:t>
            </a:r>
          </a:p>
        </p:txBody>
      </p:sp>
      <p:sp>
        <p:nvSpPr>
          <p:cNvPr id="140" name="Rectangle 6"/>
          <p:cNvSpPr txBox="1"/>
          <p:nvPr/>
        </p:nvSpPr>
        <p:spPr>
          <a:xfrm>
            <a:off x="879678" y="954543"/>
            <a:ext cx="169431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USER/ PUBLIC</a:t>
            </a:r>
          </a:p>
        </p:txBody>
      </p:sp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34259" y="844708"/>
            <a:ext cx="6238343" cy="54059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3"/>
          <p:cNvSpPr txBox="1"/>
          <p:nvPr/>
        </p:nvSpPr>
        <p:spPr>
          <a:xfrm>
            <a:off x="750889" y="475376"/>
            <a:ext cx="248690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USECASE DIAGRAMS</a:t>
            </a:r>
          </a:p>
        </p:txBody>
      </p:sp>
      <p:sp>
        <p:nvSpPr>
          <p:cNvPr id="144" name="Rectangle 6"/>
          <p:cNvSpPr txBox="1"/>
          <p:nvPr/>
        </p:nvSpPr>
        <p:spPr>
          <a:xfrm>
            <a:off x="879678" y="954543"/>
            <a:ext cx="84381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ADMIN</a:t>
            </a:r>
          </a:p>
        </p:txBody>
      </p:sp>
      <p:pic>
        <p:nvPicPr>
          <p:cNvPr id="14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23260" y="1199196"/>
            <a:ext cx="6028317" cy="49192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Rectangle 4"/>
          <p:cNvSpPr txBox="1"/>
          <p:nvPr/>
        </p:nvSpPr>
        <p:spPr>
          <a:xfrm>
            <a:off x="844209" y="476173"/>
            <a:ext cx="561390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pc="-15" sz="2000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WORK FLOW DIAGRAM FOR ANDROID</a:t>
            </a:r>
          </a:p>
        </p:txBody>
      </p:sp>
      <p:pic>
        <p:nvPicPr>
          <p:cNvPr id="14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8496" y="1231769"/>
            <a:ext cx="8747598" cy="45508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Rectangle 2"/>
          <p:cNvSpPr txBox="1"/>
          <p:nvPr/>
        </p:nvSpPr>
        <p:spPr>
          <a:xfrm>
            <a:off x="707474" y="476173"/>
            <a:ext cx="5974007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 sz="2000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WORK FLOW DIAGRAM FOR WEB APPLICATION</a:t>
            </a:r>
          </a:p>
        </p:txBody>
      </p:sp>
      <p:pic>
        <p:nvPicPr>
          <p:cNvPr id="15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4253" y="1282755"/>
            <a:ext cx="8834908" cy="46801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Rectangle 2"/>
          <p:cNvSpPr txBox="1"/>
          <p:nvPr/>
        </p:nvSpPr>
        <p:spPr>
          <a:xfrm>
            <a:off x="1003415" y="476173"/>
            <a:ext cx="162177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57" name="Content Placeholder 7"/>
          <p:cNvSpPr txBox="1"/>
          <p:nvPr>
            <p:ph type="body" idx="1"/>
          </p:nvPr>
        </p:nvSpPr>
        <p:spPr>
          <a:xfrm>
            <a:off x="957696" y="1104408"/>
            <a:ext cx="10515601" cy="4351338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Hence we have designed the project to provide the user with </a:t>
            </a:r>
            <a:r>
              <a:rPr b="1">
                <a:solidFill>
                  <a:srgbClr val="C00000"/>
                </a:solidFill>
              </a:rPr>
              <a:t>easy navigation, retrieval of data and necessary feedback as much as possible. </a:t>
            </a:r>
            <a:endParaRPr b="1">
              <a:solidFill>
                <a:srgbClr val="C00000"/>
              </a:solidFill>
            </a:endParaRP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 In this project, the user is provided with an online system that can be used to </a:t>
            </a:r>
            <a:r>
              <a:rPr b="1">
                <a:solidFill>
                  <a:srgbClr val="C00000"/>
                </a:solidFill>
              </a:rPr>
              <a:t>issue and return books in library management online.</a:t>
            </a:r>
            <a:r>
              <a:t> It should be convenient for the  student to view the contents  of their  </a:t>
            </a:r>
            <a:r>
              <a:rPr b="1">
                <a:solidFill>
                  <a:srgbClr val="C00000"/>
                </a:solidFill>
              </a:rPr>
              <a:t>status and  to  be able  to  return or  add  books  to their account. </a:t>
            </a:r>
            <a:endParaRPr b="1">
              <a:solidFill>
                <a:srgbClr val="C00000"/>
              </a:solidFill>
            </a:endParaRP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The Online library System provides a number of features that are designed to make the student more comfortable. </a:t>
            </a: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This project helps in understanding the </a:t>
            </a:r>
            <a:r>
              <a:rPr b="1">
                <a:solidFill>
                  <a:srgbClr val="C00000"/>
                </a:solidFill>
              </a:rPr>
              <a:t>creation of an interaction and the transparency between the student</a:t>
            </a:r>
            <a:r>
              <a:t> and the librarian of the books through the system.</a:t>
            </a:r>
          </a:p>
          <a:p>
            <a:pPr marL="0" indent="0" algn="just">
              <a:lnSpc>
                <a:spcPct val="150000"/>
              </a:lnSpc>
              <a:buSzTx/>
              <a:buNone/>
              <a:defRPr b="1" sz="1600">
                <a:solidFill>
                  <a:srgbClr val="C00000"/>
                </a:solidFill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object 3"/>
          <p:cNvSpPr/>
          <p:nvPr/>
        </p:nvSpPr>
        <p:spPr>
          <a:xfrm>
            <a:off x="-1" y="435416"/>
            <a:ext cx="209943" cy="450267"/>
          </a:xfrm>
          <a:prstGeom prst="rect">
            <a:avLst/>
          </a:prstGeom>
          <a:solidFill>
            <a:srgbClr val="D9212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Rectangle 2"/>
          <p:cNvSpPr txBox="1"/>
          <p:nvPr/>
        </p:nvSpPr>
        <p:spPr>
          <a:xfrm>
            <a:off x="1329337" y="476173"/>
            <a:ext cx="283838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pc="-15">
                <a:solidFill>
                  <a:srgbClr val="D8212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FUTURE ENHANCEMENT</a:t>
            </a:r>
          </a:p>
        </p:txBody>
      </p:sp>
      <p:sp>
        <p:nvSpPr>
          <p:cNvPr id="161" name="Content Placeholder 4"/>
          <p:cNvSpPr txBox="1"/>
          <p:nvPr>
            <p:ph type="body" idx="1"/>
          </p:nvPr>
        </p:nvSpPr>
        <p:spPr>
          <a:xfrm>
            <a:off x="1283616" y="886265"/>
            <a:ext cx="10515601" cy="5604687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In Future work, This application to develop a cross platforms like IOS, etc.</a:t>
            </a: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In adding the more features of online library management system to develop access with user’s flexibility.</a:t>
            </a: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To authenticate the users based on the system users list which is maintained by the operating system</a:t>
            </a:r>
          </a:p>
          <a:p>
            <a:pPr algn="just">
              <a:lnSpc>
                <a:spcPct val="150000"/>
              </a:lnSpc>
              <a:buFontTx/>
              <a:buChar char="➢"/>
              <a:defRPr sz="1600">
                <a:latin typeface="RobotoRegular"/>
                <a:ea typeface="RobotoRegular"/>
                <a:cs typeface="RobotoRegular"/>
                <a:sym typeface="RobotoRegular"/>
              </a:defRPr>
            </a:pPr>
            <a:r>
              <a:t>To restrict the usage of all files by the users based on their privileges on the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